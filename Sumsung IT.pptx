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3" r:id="rId9"/>
    <p:sldId id="264" r:id="rId10"/>
    <p:sldId id="265" r:id="rId11"/>
    <p:sldId id="266" r:id="rId12"/>
    <p:sldId id="270" r:id="rId13"/>
    <p:sldId id="267" r:id="rId14"/>
    <p:sldId id="271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23ED4-ED76-6F42-8B80-A68C6B005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3EA674F-53A7-BA91-780D-BF46B33C3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EEB5E9-295B-C35B-FFA7-C482FBB63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DEB0-B182-4894-90CD-5D9A7855637E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C98EF0-4D87-6184-EC41-C912E39C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39949B-C75B-5BE5-E79A-EB4129B9F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741BF-1000-4376-B94B-BD58A9B0C8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7379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9345C-A1A1-B333-FFD9-D8332E71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9E51F0-E394-1075-4AF0-B7D8D839F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447356-8BF9-FF40-6D44-2F860FB2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DEB0-B182-4894-90CD-5D9A7855637E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88F03D-5C2B-7AAA-C580-FE0C414E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206334-F3BD-6E35-27D6-5E5CA8069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741BF-1000-4376-B94B-BD58A9B0C8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78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6C4320-7213-5901-0B79-C82229677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BDEE9E-4713-2393-09DF-F56E6E481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FA1E39-722B-DE7D-2D48-61A3B9316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DEB0-B182-4894-90CD-5D9A7855637E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A5E855-C363-29D5-B405-DB15E57FF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8840B0-DD6D-E9B4-564C-34233E5B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741BF-1000-4376-B94B-BD58A9B0C8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08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4FDF4B-EFB1-4CDA-1200-55858B2A1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84E0CC-BA5A-DEC0-98D8-6A5C4923FD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037FDE-5D50-7B89-FA3B-13AFB69D2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F8A3A4-FD5C-9261-3284-CD6666369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DEB0-B182-4894-90CD-5D9A7855637E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1B9C3F-05C8-B171-B543-16DC1987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AA01BC-3AA0-6F55-F2D3-3794D1BD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741BF-1000-4376-B94B-BD58A9B0C8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85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246016-41F5-D913-002A-97FEC80CD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8087E2-1FE7-B5B0-B975-5935F06FE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00F152-831C-5C28-FEF2-344E299BA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DEB263-F729-7059-1980-93D1400110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AA82398-0EFB-FEAA-33C2-348798346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26475E1-7C90-B042-7D22-DE2AADF91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DEB0-B182-4894-90CD-5D9A7855637E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90696D8-05E4-6D4A-9DD2-185CA66A0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172A466-0306-7FD3-F2FB-C5D639268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741BF-1000-4376-B94B-BD58A9B0C8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65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BF246-6A6E-D512-86B8-85C28D138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A9B2C34-23CB-F195-B972-E4AAF2A8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DEB0-B182-4894-90CD-5D9A7855637E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617B0E6-BFC0-086F-FAA1-0DF626150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F77A424-D8C7-81A8-3A79-884D79AC0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741BF-1000-4376-B94B-BD58A9B0C8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557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410D927-DD9E-B589-947D-F5ED47836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DEB0-B182-4894-90CD-5D9A7855637E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8A053B-8C7A-DA84-0F9E-32A81AE7C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904F4D-CB55-39D1-F439-9D40ED271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741BF-1000-4376-B94B-BD58A9B0C8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099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862AB0-42EF-BF58-4159-5029791AC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ABBBE6-4257-9E0E-E563-9CDFA80AC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7232CF-E157-BF66-BAA4-850A279D7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3B6586-F0C1-D84B-C203-EE5BD5C90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DEB0-B182-4894-90CD-5D9A7855637E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68207D-5AF1-24D0-F254-6AFDE0EA6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4226B7-10BC-D3BA-E3E2-9DCCF4EFA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741BF-1000-4376-B94B-BD58A9B0C8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584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111D5-56D7-C923-3328-51A906D7B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4BBDB22-E393-C5D9-ADD5-3ED59EAFB9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9C5B29-22FD-AAF5-FCC0-ADCE87235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3E0A42-9C17-CA0C-EA4B-82F2294F7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DEB0-B182-4894-90CD-5D9A7855637E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40EA23-7CA8-FBE7-47EC-BA8F10EC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28EE77-FDFE-61A9-D1F8-4456225D5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741BF-1000-4376-B94B-BD58A9B0C8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63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E25189-A932-36B0-1668-46B98E444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DEDF4AE-24EA-3A44-9323-402987805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B9C7B3-499A-BA8D-12CE-E9C615023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DEB0-B182-4894-90CD-5D9A7855637E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8F3E63-7539-A185-0514-96C2F160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5D29FD-9BED-6BA6-ED8E-E28C9C05B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741BF-1000-4376-B94B-BD58A9B0C8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915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A5C70B0-5A6C-7F58-659F-F76E7DD9A1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E63152C-7816-00F8-8F84-FF4D423B3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529F86-01BB-584E-B66F-9A2D9A798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DEB0-B182-4894-90CD-5D9A7855637E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B65B02-74F4-68CF-EB40-34D6496F5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9DCC08-4B7B-6E83-67ED-CC5AD1DA4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741BF-1000-4376-B94B-BD58A9B0C8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878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8D8DE-AE92-6220-5B04-4E382585E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E97055-9569-C4A3-EAED-54DA6BEE9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7CCACE-1018-78E4-7387-71E6DCDBE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67DEB0-B182-4894-90CD-5D9A7855637E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86FE23-664B-6D86-4F99-3A53329B9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89FA99-12F1-451F-6701-DF0B97A8E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741BF-1000-4376-B94B-BD58A9B0C8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780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ctangle 104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468E9486-1DCB-15B9-F2F8-A28439977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5EF125-6638-DB51-2F7C-C390503C8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681" y="5091008"/>
            <a:ext cx="2105319" cy="149563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E069214-AEA5-AD1C-E328-22AF92B09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815" y="5332509"/>
            <a:ext cx="2105319" cy="149563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758CD75-B38D-5191-81C7-8715DC26D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040" y="5362366"/>
            <a:ext cx="2105319" cy="149563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9FE08D8-0469-F6AE-9206-18A067877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969" y="5211759"/>
            <a:ext cx="2105319" cy="149563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56D76C2-5192-5F6D-F1CE-E6649C4F0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443" y="3836875"/>
            <a:ext cx="2105319" cy="149563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51C18A0-CB96-B18B-4CE1-033024353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1183"/>
            <a:ext cx="2105319" cy="149563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9B111A4-FE48-29A6-2A5A-4901DD85EE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" y="4116442"/>
            <a:ext cx="2105319" cy="149563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247519E-D784-0191-70B3-80A035CC2C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37" y="5383180"/>
            <a:ext cx="2105319" cy="149563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0BF4E82-9CB6-FCE4-7F66-D3E6F84A91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190" y="5362366"/>
            <a:ext cx="2105319" cy="149563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CC7F41F-6615-EFD6-BB11-235E2168F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649" y="5361084"/>
            <a:ext cx="2105319" cy="149563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BF6D72A-F0F1-B48D-7CBC-AD0D950B2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134" y="5383180"/>
            <a:ext cx="2105319" cy="1495634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03AC798-598E-39EE-2657-E13A831559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652" y="3429000"/>
            <a:ext cx="2105319" cy="149563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29448AD-7C00-01A5-3084-F6AE65508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490" y="4521092"/>
            <a:ext cx="2105319" cy="1495634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5F6835C-D6E6-56F9-8E0C-FD0118D493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680" y="3439407"/>
            <a:ext cx="2105319" cy="1495634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B52385D-32DC-2246-4F61-35A7C0222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680" y="4885160"/>
            <a:ext cx="2105319" cy="1495634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A654C6D3-0FEB-5D24-3D20-DF969CDC7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234" y="5343706"/>
            <a:ext cx="2105319" cy="1495634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612E0FF3-68CF-2DA4-0085-DE0C1AF00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2203" y="5361084"/>
            <a:ext cx="2105319" cy="149563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2F0AC10-D7D4-D033-0E41-C08BEE1E5992}"/>
              </a:ext>
            </a:extLst>
          </p:cNvPr>
          <p:cNvSpPr txBox="1"/>
          <p:nvPr/>
        </p:nvSpPr>
        <p:spPr>
          <a:xfrm>
            <a:off x="1751510" y="3540996"/>
            <a:ext cx="9497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Индивидуальный</a:t>
            </a:r>
            <a:r>
              <a:rPr lang="en-GB" sz="2400" dirty="0"/>
              <a:t> </a:t>
            </a:r>
            <a:r>
              <a:rPr lang="en-GB" sz="2400" dirty="0" err="1"/>
              <a:t>проект</a:t>
            </a:r>
            <a:r>
              <a:rPr lang="en-GB" sz="2400" dirty="0"/>
              <a:t> IT </a:t>
            </a:r>
            <a:r>
              <a:rPr lang="en-GB" sz="2400" dirty="0" err="1"/>
              <a:t>Академия</a:t>
            </a:r>
            <a:r>
              <a:rPr lang="en-GB" sz="2400" dirty="0"/>
              <a:t> Samsung </a:t>
            </a:r>
            <a:r>
              <a:rPr lang="en-GB" sz="2400" dirty="0" err="1"/>
              <a:t>трек</a:t>
            </a:r>
            <a:r>
              <a:rPr lang="en-GB" sz="2400" dirty="0"/>
              <a:t> ИИ </a:t>
            </a:r>
            <a:r>
              <a:rPr lang="ru-RU" sz="2400" dirty="0"/>
              <a:t>«Применение свёрточных нейронных сетей для бинарной классификации изображений кошек и собак»</a:t>
            </a:r>
            <a:endParaRPr lang="en-GB" sz="2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0465E8-7757-72D7-70F0-002E84BEE500}"/>
              </a:ext>
            </a:extLst>
          </p:cNvPr>
          <p:cNvSpPr txBox="1"/>
          <p:nvPr/>
        </p:nvSpPr>
        <p:spPr>
          <a:xfrm>
            <a:off x="5692091" y="5231806"/>
            <a:ext cx="6283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Выполнил магистрант Прикладной информатики  Скоробогатов Давид Игоревич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1456C1-39FF-18D8-31DD-328FFAF293CA}"/>
              </a:ext>
            </a:extLst>
          </p:cNvPr>
          <p:cNvSpPr txBox="1"/>
          <p:nvPr/>
        </p:nvSpPr>
        <p:spPr>
          <a:xfrm>
            <a:off x="5710742" y="5883365"/>
            <a:ext cx="5736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Проверил старший преподаватель </a:t>
            </a:r>
          </a:p>
          <a:p>
            <a:r>
              <a:rPr lang="ru-RU" dirty="0"/>
              <a:t>Яценко Дмитрий Владимирович</a:t>
            </a:r>
            <a:endParaRPr lang="en-GB" dirty="0"/>
          </a:p>
        </p:txBody>
      </p:sp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FD046655-96DB-2B30-FAFB-06C7CD53B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57" y="5090256"/>
            <a:ext cx="5202796" cy="1586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2841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F5FE37-BF6F-801B-5162-1BB1F9FCCBA2}"/>
              </a:ext>
            </a:extLst>
          </p:cNvPr>
          <p:cNvSpPr txBox="1"/>
          <p:nvPr/>
        </p:nvSpPr>
        <p:spPr>
          <a:xfrm>
            <a:off x="1566672" y="780288"/>
            <a:ext cx="90586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Цель проекта – создание алгоритма, использующего искусственную нейронную сеть, способную опознать кота или собаку на изображении.</a:t>
            </a:r>
            <a:endParaRPr lang="en-GB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64C35-5AFD-BCDD-3161-C18B2385CE74}"/>
              </a:ext>
            </a:extLst>
          </p:cNvPr>
          <p:cNvSpPr txBox="1"/>
          <p:nvPr/>
        </p:nvSpPr>
        <p:spPr>
          <a:xfrm>
            <a:off x="2874264" y="3654029"/>
            <a:ext cx="8290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Импортирование и анализ датасета</a:t>
            </a:r>
            <a:r>
              <a:rPr lang="en-US" sz="2400" dirty="0"/>
              <a:t>;</a:t>
            </a: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Предобработка датасета</a:t>
            </a:r>
            <a:r>
              <a:rPr lang="en-US" sz="2400" dirty="0"/>
              <a:t>;</a:t>
            </a: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Создание и сохранение рабочей версии модели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Прикладная реализация модели в виде бота.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45CBF4-57C1-4314-3FA8-58A0F0E07032}"/>
              </a:ext>
            </a:extLst>
          </p:cNvPr>
          <p:cNvSpPr txBox="1"/>
          <p:nvPr/>
        </p:nvSpPr>
        <p:spPr>
          <a:xfrm>
            <a:off x="2874264" y="2753903"/>
            <a:ext cx="3060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Задачи проекта: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85456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78B14A-7D39-0CCD-593F-FB573B409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110" y="934006"/>
            <a:ext cx="7915781" cy="5923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F35C52-F04C-4863-598C-F031AFD0A2A5}"/>
              </a:ext>
            </a:extLst>
          </p:cNvPr>
          <p:cNvSpPr txBox="1"/>
          <p:nvPr/>
        </p:nvSpPr>
        <p:spPr>
          <a:xfrm>
            <a:off x="1404937" y="180975"/>
            <a:ext cx="9382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Этап 1. Импорт и анализ выбранного датасета</a:t>
            </a:r>
            <a:endParaRPr lang="en-GB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D9BF8-58F3-38F9-469F-538E7639B966}"/>
              </a:ext>
            </a:extLst>
          </p:cNvPr>
          <p:cNvSpPr txBox="1"/>
          <p:nvPr/>
        </p:nvSpPr>
        <p:spPr>
          <a:xfrm>
            <a:off x="8010144" y="3319271"/>
            <a:ext cx="38953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Задачи: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Импортировать датасет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Провести анализ  датасета</a:t>
            </a:r>
          </a:p>
        </p:txBody>
      </p:sp>
    </p:spTree>
    <p:extLst>
      <p:ext uri="{BB962C8B-B14F-4D97-AF65-F5344CB8AC3E}">
        <p14:creationId xmlns:p14="http://schemas.microsoft.com/office/powerpoint/2010/main" val="3219119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9BABA5B-3B2E-BFB3-72D7-1A4A868C4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71" y="1435768"/>
            <a:ext cx="6132285" cy="54222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4C0B3B-4FE6-5DF6-8C24-832B9942D944}"/>
              </a:ext>
            </a:extLst>
          </p:cNvPr>
          <p:cNvSpPr txBox="1"/>
          <p:nvPr/>
        </p:nvSpPr>
        <p:spPr>
          <a:xfrm>
            <a:off x="2070480" y="385011"/>
            <a:ext cx="8051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Распределение изображений по классам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15296C-9E21-1545-D5AA-88299B4E8DF0}"/>
              </a:ext>
            </a:extLst>
          </p:cNvPr>
          <p:cNvSpPr txBox="1"/>
          <p:nvPr/>
        </p:nvSpPr>
        <p:spPr>
          <a:xfrm>
            <a:off x="7053941" y="1435768"/>
            <a:ext cx="432888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train – </a:t>
            </a:r>
            <a:r>
              <a:rPr lang="ru-RU" sz="2800" dirty="0"/>
              <a:t>80 % фотографий</a:t>
            </a:r>
            <a:r>
              <a:rPr lang="en-GB" sz="2800" dirty="0"/>
              <a:t>, </a:t>
            </a:r>
            <a:r>
              <a:rPr lang="en-GB" sz="2800" dirty="0" err="1"/>
              <a:t>val</a:t>
            </a:r>
            <a:r>
              <a:rPr lang="en-GB" sz="2800" dirty="0"/>
              <a:t> – </a:t>
            </a:r>
            <a:r>
              <a:rPr lang="ru-RU" sz="2800" dirty="0"/>
              <a:t>20% фотографий</a:t>
            </a:r>
            <a:r>
              <a:rPr lang="en-US" sz="2800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Два класса фотографий по 5000 на каждый класс</a:t>
            </a:r>
            <a:r>
              <a:rPr lang="en-US" sz="2800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Датасет идеально сбалансированный</a:t>
            </a:r>
          </a:p>
        </p:txBody>
      </p:sp>
    </p:spTree>
    <p:extLst>
      <p:ext uri="{BB962C8B-B14F-4D97-AF65-F5344CB8AC3E}">
        <p14:creationId xmlns:p14="http://schemas.microsoft.com/office/powerpoint/2010/main" val="695523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5160CF-AE25-CF3E-B86F-A89DED3D9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40" y="1986560"/>
            <a:ext cx="11226696" cy="46695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108AF0-51F3-61CC-BBFC-C3DEF7135E60}"/>
              </a:ext>
            </a:extLst>
          </p:cNvPr>
          <p:cNvSpPr txBox="1"/>
          <p:nvPr/>
        </p:nvSpPr>
        <p:spPr>
          <a:xfrm>
            <a:off x="1742888" y="440871"/>
            <a:ext cx="905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Распределение ширины и высоты изображений</a:t>
            </a:r>
            <a:endParaRPr lang="en-GB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1F9343-B546-C6C1-AEE5-6F8B97DBE019}"/>
              </a:ext>
            </a:extLst>
          </p:cNvPr>
          <p:cNvSpPr txBox="1"/>
          <p:nvPr/>
        </p:nvSpPr>
        <p:spPr>
          <a:xfrm>
            <a:off x="1397084" y="1321437"/>
            <a:ext cx="459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Библиотека для визуализации - </a:t>
            </a:r>
            <a:r>
              <a:rPr lang="en-US" dirty="0"/>
              <a:t>matplotlib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148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DE60F8-F91F-4F9E-19FF-F1AC020E5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42" y="1446527"/>
            <a:ext cx="11312348" cy="21670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EEFCEB-762E-516B-06FE-FFBA954F1B25}"/>
              </a:ext>
            </a:extLst>
          </p:cNvPr>
          <p:cNvSpPr txBox="1"/>
          <p:nvPr/>
        </p:nvSpPr>
        <p:spPr>
          <a:xfrm>
            <a:off x="4119560" y="384731"/>
            <a:ext cx="39528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Визуализация </a:t>
            </a:r>
            <a:r>
              <a:rPr lang="ru-RU" sz="3200" dirty="0" err="1"/>
              <a:t>батча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51419-73F5-E391-733D-B4329565A6B4}"/>
              </a:ext>
            </a:extLst>
          </p:cNvPr>
          <p:cNvSpPr txBox="1"/>
          <p:nvPr/>
        </p:nvSpPr>
        <p:spPr>
          <a:xfrm>
            <a:off x="1933953" y="4191209"/>
            <a:ext cx="83240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32 </a:t>
            </a:r>
            <a:r>
              <a:rPr lang="ru-RU" sz="2800" dirty="0"/>
              <a:t>изображения по 8 подпроцессов</a:t>
            </a:r>
          </a:p>
          <a:p>
            <a:endParaRPr lang="ru-RU" sz="2800" dirty="0"/>
          </a:p>
          <a:p>
            <a:r>
              <a:rPr lang="ru-RU" sz="2800" dirty="0"/>
              <a:t>Подгрузка </a:t>
            </a:r>
            <a:r>
              <a:rPr lang="ru-RU" sz="2800" dirty="0" err="1"/>
              <a:t>батчей</a:t>
            </a:r>
            <a:r>
              <a:rPr lang="ru-RU" sz="2800" dirty="0"/>
              <a:t> реализована через </a:t>
            </a:r>
            <a:r>
              <a:rPr lang="en-US" sz="2800" dirty="0" err="1"/>
              <a:t>dataloaders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56287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DCA68B-9CDD-FA7C-E100-E33552FC9255}"/>
              </a:ext>
            </a:extLst>
          </p:cNvPr>
          <p:cNvSpPr txBox="1"/>
          <p:nvPr/>
        </p:nvSpPr>
        <p:spPr>
          <a:xfrm>
            <a:off x="2435733" y="422743"/>
            <a:ext cx="7320534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 err="1">
                <a:latin typeface="+mj-lt"/>
                <a:ea typeface="+mj-ea"/>
                <a:cs typeface="+mj-cs"/>
              </a:rPr>
              <a:t>Этап</a:t>
            </a:r>
            <a:r>
              <a:rPr lang="en-US" sz="3200" dirty="0">
                <a:latin typeface="+mj-lt"/>
                <a:ea typeface="+mj-ea"/>
                <a:cs typeface="+mj-cs"/>
              </a:rPr>
              <a:t> 2. </a:t>
            </a:r>
            <a:r>
              <a:rPr lang="en-US" sz="3200" dirty="0" err="1">
                <a:latin typeface="+mj-lt"/>
                <a:ea typeface="+mj-ea"/>
                <a:cs typeface="+mj-cs"/>
              </a:rPr>
              <a:t>Создание</a:t>
            </a:r>
            <a:r>
              <a:rPr lang="en-US" sz="3200" dirty="0">
                <a:latin typeface="+mj-lt"/>
                <a:ea typeface="+mj-ea"/>
                <a:cs typeface="+mj-cs"/>
              </a:rPr>
              <a:t> и </a:t>
            </a:r>
            <a:r>
              <a:rPr lang="en-US" sz="3200" dirty="0" err="1">
                <a:latin typeface="+mj-lt"/>
                <a:ea typeface="+mj-ea"/>
                <a:cs typeface="+mj-cs"/>
              </a:rPr>
              <a:t>обучение</a:t>
            </a:r>
            <a:r>
              <a:rPr 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sz="3200" dirty="0" err="1">
                <a:latin typeface="+mj-lt"/>
                <a:ea typeface="+mj-ea"/>
                <a:cs typeface="+mj-cs"/>
              </a:rPr>
              <a:t>модели</a:t>
            </a:r>
            <a:endParaRPr lang="en-US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0EECA5-D4EC-118A-9003-3028F34F5DA9}"/>
              </a:ext>
            </a:extLst>
          </p:cNvPr>
          <p:cNvSpPr txBox="1"/>
          <p:nvPr/>
        </p:nvSpPr>
        <p:spPr>
          <a:xfrm>
            <a:off x="2808065" y="1749612"/>
            <a:ext cx="65758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Задачи: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Использование трансферного обучения</a:t>
            </a:r>
            <a:r>
              <a:rPr lang="en-US" sz="2400" dirty="0"/>
              <a:t> </a:t>
            </a:r>
            <a:r>
              <a:rPr lang="ru-RU" sz="2400" dirty="0"/>
              <a:t>(</a:t>
            </a:r>
            <a:r>
              <a:rPr lang="en-US" sz="2400" dirty="0" err="1"/>
              <a:t>transer</a:t>
            </a:r>
            <a:r>
              <a:rPr lang="en-US" sz="2400" dirty="0"/>
              <a:t>-learning</a:t>
            </a:r>
            <a:r>
              <a:rPr lang="ru-RU" sz="2400" dirty="0"/>
              <a:t>) с целью извлечения признаков  (</a:t>
            </a:r>
            <a:r>
              <a:rPr lang="en-US" sz="2400" dirty="0"/>
              <a:t>feature extraction</a:t>
            </a:r>
            <a:r>
              <a:rPr lang="ru-RU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Создание слоя классификатора (обучается только данный слой)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Оценка качества модели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63297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D850E7-D5E0-036F-890C-741FBC123C0A}"/>
              </a:ext>
            </a:extLst>
          </p:cNvPr>
          <p:cNvSpPr txBox="1"/>
          <p:nvPr/>
        </p:nvSpPr>
        <p:spPr>
          <a:xfrm>
            <a:off x="4035082" y="177253"/>
            <a:ext cx="4121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Базовая архитектура</a:t>
            </a:r>
            <a:endParaRPr lang="en-GB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D6B815-6EC9-05E4-D9CC-F90F7FEB0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598" y="663730"/>
            <a:ext cx="8068801" cy="36390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F7D11D-AAD7-3566-8B48-26FA3073DD3D}"/>
              </a:ext>
            </a:extLst>
          </p:cNvPr>
          <p:cNvSpPr txBox="1"/>
          <p:nvPr/>
        </p:nvSpPr>
        <p:spPr>
          <a:xfrm>
            <a:off x="1581913" y="4302788"/>
            <a:ext cx="1053388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 качестве основы архитектуры модели используется </a:t>
            </a:r>
            <a:r>
              <a:rPr lang="ru-RU" sz="1600" dirty="0" err="1"/>
              <a:t>предобученная</a:t>
            </a:r>
            <a:r>
              <a:rPr lang="ru-RU" sz="1600" dirty="0"/>
              <a:t> модель </a:t>
            </a:r>
            <a:r>
              <a:rPr lang="en-US" sz="1600" dirty="0"/>
              <a:t>ResNet18</a:t>
            </a:r>
            <a:r>
              <a:rPr lang="ru-RU" sz="1600" dirty="0"/>
              <a:t> (</a:t>
            </a:r>
            <a:r>
              <a:rPr lang="en-US" sz="1600" dirty="0"/>
              <a:t>torchvision.models.resnet18)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Последний </a:t>
            </a:r>
            <a:r>
              <a:rPr lang="ru-RU" sz="1600" dirty="0" err="1"/>
              <a:t>полносвязный</a:t>
            </a:r>
            <a:r>
              <a:rPr lang="ru-RU" sz="1600" dirty="0"/>
              <a:t> слой (512, 1000)</a:t>
            </a:r>
            <a:r>
              <a:rPr lang="en-US" sz="1600" dirty="0"/>
              <a:t> </a:t>
            </a:r>
            <a:r>
              <a:rPr lang="ru-RU" sz="1600" dirty="0"/>
              <a:t>заменяется на (512, 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Метрики</a:t>
            </a:r>
            <a:r>
              <a:rPr lang="en-US" sz="1600" dirty="0"/>
              <a:t> </a:t>
            </a:r>
            <a:r>
              <a:rPr lang="ru-RU" sz="1600" dirty="0"/>
              <a:t>оценивания точности предсказаний:  </a:t>
            </a:r>
            <a:r>
              <a:rPr lang="en-US" sz="1600" dirty="0"/>
              <a:t>Loss </a:t>
            </a:r>
            <a:r>
              <a:rPr lang="ru-RU" sz="1600" dirty="0"/>
              <a:t>и </a:t>
            </a:r>
            <a:r>
              <a:rPr lang="en-US" sz="1600" dirty="0"/>
              <a:t>Acc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Среда исполнения </a:t>
            </a:r>
            <a:r>
              <a:rPr lang="en-US" sz="1600" dirty="0"/>
              <a:t>Google </a:t>
            </a:r>
            <a:r>
              <a:rPr lang="en-US" sz="1600" dirty="0" err="1"/>
              <a:t>Colab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Фреймворк </a:t>
            </a:r>
            <a:r>
              <a:rPr lang="en-US" sz="1600" dirty="0" err="1"/>
              <a:t>Pytorch</a:t>
            </a:r>
            <a:endParaRPr lang="en-US" sz="1600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53619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AE3C3F-3A46-CFB7-24B1-BC05A8254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675" y="0"/>
            <a:ext cx="432435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0DBA93-AEB3-B63B-967F-9F118697F256}"/>
              </a:ext>
            </a:extLst>
          </p:cNvPr>
          <p:cNvSpPr txBox="1"/>
          <p:nvPr/>
        </p:nvSpPr>
        <p:spPr>
          <a:xfrm>
            <a:off x="266700" y="1085850"/>
            <a:ext cx="6915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Диаграмма классов архитектуры</a:t>
            </a:r>
            <a:endParaRPr lang="en-GB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1E6BBF-12EB-908E-5BFD-E697EC004013}"/>
              </a:ext>
            </a:extLst>
          </p:cNvPr>
          <p:cNvSpPr txBox="1"/>
          <p:nvPr/>
        </p:nvSpPr>
        <p:spPr>
          <a:xfrm>
            <a:off x="561975" y="1980077"/>
            <a:ext cx="530624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Параметры модели:</a:t>
            </a:r>
            <a:endParaRPr lang="en-US" sz="2400" dirty="0"/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Функция активации</a:t>
            </a:r>
            <a:r>
              <a:rPr lang="en-US" dirty="0"/>
              <a:t> –</a:t>
            </a:r>
            <a:r>
              <a:rPr lang="ru-RU" dirty="0"/>
              <a:t> </a:t>
            </a:r>
            <a:r>
              <a:rPr lang="en-US" dirty="0" err="1"/>
              <a:t>ReLU</a:t>
            </a:r>
            <a:r>
              <a:rPr lang="en-US" dirty="0"/>
              <a:t>;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Оценка результатов по </a:t>
            </a:r>
            <a:r>
              <a:rPr lang="en-US" dirty="0"/>
              <a:t>Loss </a:t>
            </a:r>
            <a:r>
              <a:rPr lang="ru-RU" dirty="0"/>
              <a:t>и </a:t>
            </a:r>
            <a:r>
              <a:rPr lang="en-US" dirty="0"/>
              <a:t>Acc;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Оптимизатор </a:t>
            </a:r>
            <a:r>
              <a:rPr lang="en-US" dirty="0"/>
              <a:t>SGD (</a:t>
            </a:r>
            <a:r>
              <a:rPr lang="en-US" dirty="0" err="1"/>
              <a:t>lr</a:t>
            </a:r>
            <a:r>
              <a:rPr lang="en-US" dirty="0"/>
              <a:t> = 0.001, momentum=0.9);</a:t>
            </a:r>
          </a:p>
        </p:txBody>
      </p:sp>
    </p:spTree>
    <p:extLst>
      <p:ext uri="{BB962C8B-B14F-4D97-AF65-F5344CB8AC3E}">
        <p14:creationId xmlns:p14="http://schemas.microsoft.com/office/powerpoint/2010/main" val="2702708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70BBAFC-3E8F-52AC-2884-BCF435184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075" y="0"/>
            <a:ext cx="29469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BCE6F4-1DE5-FC79-52CB-DB4504CC95E3}"/>
              </a:ext>
            </a:extLst>
          </p:cNvPr>
          <p:cNvSpPr txBox="1"/>
          <p:nvPr/>
        </p:nvSpPr>
        <p:spPr>
          <a:xfrm>
            <a:off x="410028" y="944499"/>
            <a:ext cx="653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Блок-схема обучения (</a:t>
            </a:r>
            <a:r>
              <a:rPr lang="en-US" sz="3200" dirty="0"/>
              <a:t>Classifier)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110216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D851AA-D7B0-B335-9CFE-2E47681D5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88" y="3145437"/>
            <a:ext cx="10217823" cy="34350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448BF2-B540-3248-3672-BC2A764B6AC2}"/>
              </a:ext>
            </a:extLst>
          </p:cNvPr>
          <p:cNvSpPr txBox="1"/>
          <p:nvPr/>
        </p:nvSpPr>
        <p:spPr>
          <a:xfrm>
            <a:off x="3644263" y="209655"/>
            <a:ext cx="4903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Оценка качества модели</a:t>
            </a:r>
            <a:endParaRPr lang="en-GB" sz="3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0511738-A91D-B19B-237E-536DC71F4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732" y="1362075"/>
            <a:ext cx="3459166" cy="10192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FE1CD8-B4B0-D838-74F1-E956718DBB7C}"/>
              </a:ext>
            </a:extLst>
          </p:cNvPr>
          <p:cNvSpPr txBox="1"/>
          <p:nvPr/>
        </p:nvSpPr>
        <p:spPr>
          <a:xfrm>
            <a:off x="6864095" y="1362075"/>
            <a:ext cx="291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Best Epoch – 7.</a:t>
            </a:r>
          </a:p>
          <a:p>
            <a:r>
              <a:rPr lang="en-US" dirty="0"/>
              <a:t>train loss/acc 0.17/0.93</a:t>
            </a:r>
          </a:p>
          <a:p>
            <a:r>
              <a:rPr lang="en-US" dirty="0" err="1"/>
              <a:t>val</a:t>
            </a:r>
            <a:r>
              <a:rPr lang="en-US" dirty="0"/>
              <a:t> loss/acc 0.06/0.98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5376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530061-C325-70B2-A68F-107FF2EBB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65" y="1513936"/>
            <a:ext cx="2610214" cy="529663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C2D8BD-458C-BF58-58BC-B22AB5626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479" y="1747330"/>
            <a:ext cx="3381847" cy="490606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17EB6B-5984-4C2A-1A7A-C9385CEA18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326" y="3962006"/>
            <a:ext cx="2457793" cy="283884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6CF8988-839E-3F65-7330-30C865224A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523" y="1590146"/>
            <a:ext cx="3248478" cy="522042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EBF70B-8ADB-4285-22E1-FA19DBA10B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520" y="1370832"/>
            <a:ext cx="2353003" cy="26768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6125FC-B12A-9FAF-660D-3D8E239418EA}"/>
              </a:ext>
            </a:extLst>
          </p:cNvPr>
          <p:cNvSpPr txBox="1"/>
          <p:nvPr/>
        </p:nvSpPr>
        <p:spPr>
          <a:xfrm>
            <a:off x="3642740" y="213246"/>
            <a:ext cx="4903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Оценка качества модели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974493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34D8B1-3B62-B3D5-856F-761EB720114A}"/>
              </a:ext>
            </a:extLst>
          </p:cNvPr>
          <p:cNvSpPr txBox="1"/>
          <p:nvPr/>
        </p:nvSpPr>
        <p:spPr>
          <a:xfrm>
            <a:off x="2195512" y="390525"/>
            <a:ext cx="7800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Этап 3. Прикладная реализация проекта</a:t>
            </a: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3BB597-6619-F87B-5366-F639CAFF88A0}"/>
              </a:ext>
            </a:extLst>
          </p:cNvPr>
          <p:cNvSpPr txBox="1"/>
          <p:nvPr/>
        </p:nvSpPr>
        <p:spPr>
          <a:xfrm>
            <a:off x="2240756" y="1752421"/>
            <a:ext cx="7710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Основная задача этапа – разработка телеграмм бота, который с помощью подключенной обученной модели сможет классифицировать фотографии (определять кошка на фото или собака)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D3E315-A195-4B28-BDEE-B36DA7C32B4B}"/>
              </a:ext>
            </a:extLst>
          </p:cNvPr>
          <p:cNvSpPr txBox="1"/>
          <p:nvPr/>
        </p:nvSpPr>
        <p:spPr>
          <a:xfrm>
            <a:off x="2240756" y="2926080"/>
            <a:ext cx="4672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Используемый протокол - </a:t>
            </a:r>
            <a:r>
              <a:rPr lang="en-US" dirty="0" err="1"/>
              <a:t>TelegramAPI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5817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73C995-F8E7-808B-A36A-01DB16C52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" y="0"/>
            <a:ext cx="7333234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91D79D1-BA7F-51F0-6B81-1F3942022F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241" y="2015424"/>
            <a:ext cx="4296375" cy="9907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B6069FA-A8DA-5D02-936A-A458AD4D37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241" y="3006162"/>
            <a:ext cx="3279262" cy="36805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2775E0-104B-EDDD-2DC6-9BC9F7A648D3}"/>
              </a:ext>
            </a:extLst>
          </p:cNvPr>
          <p:cNvSpPr txBox="1"/>
          <p:nvPr/>
        </p:nvSpPr>
        <p:spPr>
          <a:xfrm>
            <a:off x="3767109" y="234000"/>
            <a:ext cx="41041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Реализация и работа </a:t>
            </a:r>
          </a:p>
          <a:p>
            <a:r>
              <a:rPr lang="ru-RU" sz="3200" dirty="0"/>
              <a:t>Телеграм-бота</a:t>
            </a:r>
            <a:endParaRPr lang="en-GB" sz="32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6EB81B1-CF54-1FE5-CF35-E310C2A92C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241" y="110158"/>
            <a:ext cx="4105848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705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3E183DF-7A5B-47E6-3437-FC468EA22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695" y="779306"/>
            <a:ext cx="3005737" cy="29600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43283E-435E-B408-8BA4-409DF81B59FB}"/>
              </a:ext>
            </a:extLst>
          </p:cNvPr>
          <p:cNvSpPr txBox="1"/>
          <p:nvPr/>
        </p:nvSpPr>
        <p:spPr>
          <a:xfrm>
            <a:off x="-1093675" y="3965371"/>
            <a:ext cx="60222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/>
              <a:t>Репозиторий</a:t>
            </a:r>
          </a:p>
          <a:p>
            <a:pPr algn="ctr"/>
            <a:r>
              <a:rPr lang="en-US" sz="3200" dirty="0"/>
              <a:t>GitHub</a:t>
            </a:r>
            <a:endParaRPr lang="en-GB" sz="3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4A96981-007A-71A5-60B2-9B0F3BE71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834" y="779306"/>
            <a:ext cx="3009769" cy="29600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0C1010-AFC9-11C8-343E-967141A9AC91}"/>
              </a:ext>
            </a:extLst>
          </p:cNvPr>
          <p:cNvSpPr txBox="1"/>
          <p:nvPr/>
        </p:nvSpPr>
        <p:spPr>
          <a:xfrm>
            <a:off x="4996470" y="3962246"/>
            <a:ext cx="17373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Датасет</a:t>
            </a:r>
            <a:endParaRPr lang="en-US" sz="3200" dirty="0"/>
          </a:p>
          <a:p>
            <a:r>
              <a:rPr lang="en-US" sz="3200" dirty="0"/>
              <a:t>(Kaggle)</a:t>
            </a:r>
            <a:endParaRPr lang="en-GB" sz="32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0DDE0A7-DFCA-3A57-EAF7-AC43662E5D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005" y="779306"/>
            <a:ext cx="2924583" cy="32961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CDE772-8A5A-63A4-4564-19319CB8A55B}"/>
              </a:ext>
            </a:extLst>
          </p:cNvPr>
          <p:cNvSpPr txBox="1"/>
          <p:nvPr/>
        </p:nvSpPr>
        <p:spPr>
          <a:xfrm>
            <a:off x="8219005" y="4457814"/>
            <a:ext cx="2831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Телеграмм бот</a:t>
            </a:r>
          </a:p>
        </p:txBody>
      </p:sp>
    </p:spTree>
    <p:extLst>
      <p:ext uri="{BB962C8B-B14F-4D97-AF65-F5344CB8AC3E}">
        <p14:creationId xmlns:p14="http://schemas.microsoft.com/office/powerpoint/2010/main" val="10757517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326</Words>
  <Application>Microsoft Office PowerPoint</Application>
  <PresentationFormat>Широкоэкранный</PresentationFormat>
  <Paragraphs>63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Скоробогатов Давид Игоревич</dc:creator>
  <cp:lastModifiedBy>Скоробогатов Давид Игоревич</cp:lastModifiedBy>
  <cp:revision>57</cp:revision>
  <dcterms:created xsi:type="dcterms:W3CDTF">2026-05-30T01:23:17Z</dcterms:created>
  <dcterms:modified xsi:type="dcterms:W3CDTF">2026-06-19T07:45:06Z</dcterms:modified>
</cp:coreProperties>
</file>